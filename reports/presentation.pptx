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854" y="1122363"/>
            <a:ext cx="8999118" cy="2387600"/>
          </a:xfrm>
        </p:spPr>
        <p:txBody>
          <a:bodyPr anchor="b">
            <a:normAutofit/>
          </a:bodyPr>
          <a:lstStyle>
            <a:lvl1pPr algn="ctr"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4854" y="3602038"/>
            <a:ext cx="8999118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2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80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24" y="657227"/>
            <a:ext cx="9730977" cy="2852737"/>
          </a:xfrm>
        </p:spPr>
        <p:txBody>
          <a:bodyPr anchor="b">
            <a:normAutofit/>
          </a:bodyPr>
          <a:lstStyle>
            <a:lvl1pPr>
              <a:defRPr sz="3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24" y="3602039"/>
            <a:ext cx="9730977" cy="1500187"/>
          </a:xfrm>
        </p:spPr>
        <p:txBody>
          <a:bodyPr/>
          <a:lstStyle>
            <a:lvl1pPr marL="0" indent="0" algn="ctr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0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557" y="2088320"/>
            <a:ext cx="510467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1796" y="2088320"/>
            <a:ext cx="5092827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8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507" y="2088320"/>
            <a:ext cx="487792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557" y="2912232"/>
            <a:ext cx="510587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336" y="2088320"/>
            <a:ext cx="48642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912232"/>
            <a:ext cx="5094030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8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0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8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90" y="609600"/>
            <a:ext cx="3931213" cy="2362200"/>
          </a:xfrm>
        </p:spPr>
        <p:txBody>
          <a:bodyPr anchor="b">
            <a:norm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6742" y="609600"/>
            <a:ext cx="6187880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6990" y="2971801"/>
            <a:ext cx="3931213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6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9" y="609600"/>
            <a:ext cx="5928229" cy="2362200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2871" y="758881"/>
            <a:ext cx="325450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2971800"/>
            <a:ext cx="5933404" cy="2819400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7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68" y="4289373"/>
            <a:ext cx="10364864" cy="819355"/>
          </a:xfrm>
        </p:spPr>
        <p:txBody>
          <a:bodyPr anchor="b">
            <a:norm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568" y="621322"/>
            <a:ext cx="103648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7" y="5108728"/>
            <a:ext cx="103632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6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6" cy="3424859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7" y="4204820"/>
            <a:ext cx="10351065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0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0"/>
            <a:ext cx="9300329" cy="2992904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196" y="3610032"/>
            <a:ext cx="8750020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4204821"/>
            <a:ext cx="10351066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394" y="73524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181" y="297209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6785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69" y="2126943"/>
            <a:ext cx="10352630" cy="2511835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4650556"/>
            <a:ext cx="10351067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27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556" y="609601"/>
            <a:ext cx="1035106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556" y="2088320"/>
            <a:ext cx="329809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556" y="2911624"/>
            <a:ext cx="329809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3720" y="2088320"/>
            <a:ext cx="329769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3721" y="2911624"/>
            <a:ext cx="3298962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222" y="2088320"/>
            <a:ext cx="3290354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4269" y="2911624"/>
            <a:ext cx="3290354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24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557" y="4195899"/>
            <a:ext cx="32980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1736" y="2298987"/>
            <a:ext cx="293928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557" y="4772161"/>
            <a:ext cx="329809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1544" y="4195899"/>
            <a:ext cx="3298124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7807" y="2298987"/>
            <a:ext cx="2929762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0191" y="4772160"/>
            <a:ext cx="3299477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347" y="4195899"/>
            <a:ext cx="328904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0681" y="2298987"/>
            <a:ext cx="2931349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1222" y="4772162"/>
            <a:ext cx="3293400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2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06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609600"/>
            <a:ext cx="254199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556" y="609600"/>
            <a:ext cx="7656711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4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557" y="2096064"/>
            <a:ext cx="10351066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6736" y="5883276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557" y="5883276"/>
            <a:ext cx="66711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1273" y="5883276"/>
            <a:ext cx="753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126" rtl="0" eaLnBrk="1" latinLnBrk="0" hangingPunct="1">
        <a:lnSpc>
          <a:spcPct val="90000"/>
        </a:lnSpc>
        <a:spcBef>
          <a:spcPct val="0"/>
        </a:spcBef>
        <a:buNone/>
        <a:defRPr sz="3399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Bluestock</a:t>
            </a:r>
            <a:r>
              <a:rPr lang="en-GB" dirty="0"/>
              <a:t> Mutual Fund Capstone Project</a:t>
            </a:r>
            <a:br>
              <a:rPr lang="en-GB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400"/>
            </a:pPr>
            <a:r>
              <a:rPr dirty="0"/>
              <a:t>Objectives:</a:t>
            </a:r>
          </a:p>
          <a:p>
            <a:pPr algn="l">
              <a:defRPr sz="1400"/>
            </a:pPr>
            <a:r>
              <a:rPr dirty="0"/>
              <a:t>- Develop an automated ETL pipeline for financial datasets.</a:t>
            </a:r>
          </a:p>
          <a:p>
            <a:pPr algn="l">
              <a:defRPr sz="1400"/>
            </a:pPr>
            <a:r>
              <a:rPr dirty="0"/>
              <a:t>- Clean and preprocess multiple mutual fund datasets.</a:t>
            </a:r>
          </a:p>
          <a:p>
            <a:pPr algn="l">
              <a:defRPr sz="1400"/>
            </a:pPr>
            <a:r>
              <a:rPr dirty="0"/>
              <a:t>- Store cleaned data in SQLite.</a:t>
            </a:r>
          </a:p>
          <a:p>
            <a:pPr algn="l">
              <a:defRPr sz="1400"/>
            </a:pPr>
            <a:r>
              <a:rPr dirty="0"/>
              <a:t>- Perform exploratory data analysis.</a:t>
            </a:r>
          </a:p>
          <a:p>
            <a:pPr algn="l">
              <a:defRPr sz="1400"/>
            </a:pPr>
            <a:r>
              <a:rPr dirty="0"/>
              <a:t>- Calculate financial performance metrics.</a:t>
            </a:r>
          </a:p>
          <a:p>
            <a:pPr algn="l">
              <a:defRPr sz="1400"/>
            </a:pPr>
            <a:r>
              <a:rPr dirty="0"/>
              <a:t>- Build an interactive Power BI dashboard.</a:t>
            </a:r>
          </a:p>
          <a:p>
            <a:pPr algn="l">
              <a:defRPr sz="1400"/>
            </a:pPr>
            <a:r>
              <a:rPr dirty="0"/>
              <a:t>- Generate business insights for investment decisions.</a:t>
            </a:r>
            <a:r>
              <a:rPr lang="en-GB" dirty="0"/>
              <a:t>                                              		Presented by : </a:t>
            </a:r>
            <a:r>
              <a:rPr lang="en-GB" dirty="0" err="1"/>
              <a:t>vprvithal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10C0AE-FCA4-4134-9264-F0F770AF3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90" y="609601"/>
            <a:ext cx="842094" cy="8420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500" dirty="0"/>
          </a:p>
          <a:p>
            <a:pPr algn="l">
              <a:defRPr sz="1400"/>
            </a:pPr>
            <a:r>
              <a:rPr sz="1500" dirty="0"/>
              <a:t>ETL Process:</a:t>
            </a:r>
          </a:p>
          <a:p>
            <a:pPr algn="l">
              <a:defRPr sz="1400"/>
            </a:pPr>
            <a:r>
              <a:rPr sz="1500" dirty="0"/>
              <a:t>- Extract raw CSV datasets.</a:t>
            </a:r>
          </a:p>
          <a:p>
            <a:pPr algn="l">
              <a:defRPr sz="1400"/>
            </a:pPr>
            <a:r>
              <a:rPr sz="1500" dirty="0"/>
              <a:t>- Clean missing and duplicate data.</a:t>
            </a:r>
          </a:p>
          <a:p>
            <a:pPr algn="l">
              <a:defRPr sz="1400"/>
            </a:pPr>
            <a:r>
              <a:rPr sz="1500" dirty="0"/>
              <a:t>- Standardize column names.</a:t>
            </a:r>
          </a:p>
          <a:p>
            <a:pPr algn="l">
              <a:defRPr sz="1400"/>
            </a:pPr>
            <a:r>
              <a:rPr sz="1500" dirty="0"/>
              <a:t>- Convert date columns.</a:t>
            </a:r>
          </a:p>
          <a:p>
            <a:pPr algn="l">
              <a:defRPr sz="1400"/>
            </a:pPr>
            <a:r>
              <a:rPr sz="1500" dirty="0"/>
              <a:t>- Load processed data into SQLite.</a:t>
            </a:r>
          </a:p>
          <a:p>
            <a:pPr algn="l">
              <a:defRPr sz="1400"/>
            </a:pPr>
            <a:endParaRPr sz="1500" dirty="0"/>
          </a:p>
          <a:p>
            <a:pPr algn="l">
              <a:defRPr sz="1400"/>
            </a:pPr>
            <a:r>
              <a:rPr sz="1500" dirty="0"/>
              <a:t>Performance Analytics: CAGR, Sharpe Ratio, Sortino Ratio, Alpha, Beta, Maximum Drawdown, Tracking Error</a:t>
            </a:r>
          </a:p>
          <a:p>
            <a:pPr algn="l">
              <a:defRPr sz="1400"/>
            </a:pPr>
            <a:r>
              <a:rPr sz="1500" dirty="0"/>
              <a:t>Advanced Analytics: Historical </a:t>
            </a:r>
            <a:r>
              <a:rPr sz="1500" dirty="0" err="1"/>
              <a:t>VaR</a:t>
            </a:r>
            <a:r>
              <a:rPr sz="1500" dirty="0"/>
              <a:t>, CVaR,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700" dirty="0"/>
          </a:p>
          <a:p>
            <a:pPr algn="l">
              <a:defRPr sz="1400"/>
            </a:pPr>
            <a:r>
              <a:rPr sz="1700" dirty="0"/>
              <a:t>Four interactive pages:</a:t>
            </a:r>
          </a:p>
          <a:p>
            <a:pPr algn="l">
              <a:defRPr sz="1400"/>
            </a:pPr>
            <a:r>
              <a:rPr sz="1700" dirty="0"/>
              <a:t>• Industry Overview: Total AUM, SIP Inflows, Folios, Industry Growth</a:t>
            </a:r>
          </a:p>
          <a:p>
            <a:pPr algn="l">
              <a:defRPr sz="1400"/>
            </a:pPr>
            <a:r>
              <a:rPr sz="1700" dirty="0"/>
              <a:t>• Fund Performance: Risk vs Return, Fund Scorecard, Benchmark Comparison</a:t>
            </a:r>
          </a:p>
          <a:p>
            <a:pPr algn="l">
              <a:defRPr sz="1400"/>
            </a:pPr>
            <a:r>
              <a:rPr sz="1700" dirty="0"/>
              <a:t>• Investor Analytics: State-wise, Age Group, SIP vs Lumpsum</a:t>
            </a:r>
          </a:p>
          <a:p>
            <a:pPr algn="l">
              <a:defRPr sz="1400"/>
            </a:pPr>
            <a:r>
              <a:rPr sz="1700" dirty="0"/>
              <a:t>• SIP &amp; Market Trends: Monthly SIP, NIFTY 50 Comparison</a:t>
            </a:r>
          </a:p>
          <a:p>
            <a:pPr algn="l">
              <a:defRPr sz="1400"/>
            </a:pPr>
            <a:endParaRPr sz="1700" dirty="0"/>
          </a:p>
          <a:p>
            <a:pPr algn="l">
              <a:defRPr sz="1400"/>
            </a:pPr>
            <a:r>
              <a:rPr sz="1700" dirty="0"/>
              <a:t>Features: KPI Cards, Interactive Slicers, Drill-through, Tooltips, Dynamic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1700" dirty="0"/>
          </a:p>
          <a:p>
            <a:pPr algn="l">
              <a:defRPr sz="1400"/>
            </a:pPr>
            <a:r>
              <a:rPr lang="en-GB" sz="1700" dirty="0"/>
              <a:t>- Industry AUM increased steadily.</a:t>
            </a:r>
          </a:p>
          <a:p>
            <a:pPr algn="l">
              <a:defRPr sz="1400"/>
            </a:pPr>
            <a:r>
              <a:rPr lang="en-GB" sz="1700" dirty="0"/>
              <a:t>- SIP inflows showed continuous growth.</a:t>
            </a:r>
          </a:p>
          <a:p>
            <a:pPr algn="l">
              <a:defRPr sz="1400"/>
            </a:pPr>
            <a:r>
              <a:rPr lang="en-GB" sz="1700" dirty="0"/>
              <a:t>- Liquid funds stable risk-adjusted performance.</a:t>
            </a:r>
          </a:p>
          <a:p>
            <a:pPr algn="l">
              <a:defRPr sz="1400"/>
            </a:pPr>
            <a:r>
              <a:rPr lang="en-GB" sz="1700" dirty="0"/>
              <a:t>- Small-cap funds: higher returns, higher risk.</a:t>
            </a:r>
          </a:p>
          <a:p>
            <a:pPr algn="l">
              <a:defRPr sz="1400"/>
            </a:pPr>
            <a:r>
              <a:rPr lang="en-GB" sz="1700" dirty="0"/>
              <a:t>- Positive Alpha in several funds.</a:t>
            </a:r>
          </a:p>
          <a:p>
            <a:pPr algn="l">
              <a:defRPr sz="1400"/>
            </a:pPr>
            <a:r>
              <a:rPr lang="en-GB" sz="1700" dirty="0"/>
              <a:t>- </a:t>
            </a:r>
            <a:r>
              <a:rPr lang="en-GB" sz="1700" dirty="0" err="1"/>
              <a:t>VaR</a:t>
            </a:r>
            <a:r>
              <a:rPr lang="en-GB" sz="1700" dirty="0"/>
              <a:t>/CVaR measured downside risk.</a:t>
            </a:r>
          </a:p>
          <a:p>
            <a:pPr algn="l">
              <a:defRPr sz="1400"/>
            </a:pPr>
            <a:r>
              <a:rPr lang="en-GB" sz="1700" dirty="0"/>
              <a:t>- Insights for better investment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29" y="1527142"/>
            <a:ext cx="11113794" cy="4264058"/>
          </a:xfrm>
        </p:spPr>
        <p:txBody>
          <a:bodyPr>
            <a:noAutofit/>
          </a:bodyPr>
          <a:lstStyle/>
          <a:p>
            <a:endParaRPr sz="1600" dirty="0"/>
          </a:p>
          <a:p>
            <a:pPr algn="l">
              <a:defRPr sz="1400"/>
            </a:pPr>
            <a:r>
              <a:rPr sz="1600" dirty="0"/>
              <a:t>Successfully demonstrated complete data analytics lifecycle.</a:t>
            </a:r>
          </a:p>
          <a:p>
            <a:pPr algn="l">
              <a:defRPr sz="1400"/>
            </a:pPr>
            <a:endParaRPr sz="1600" dirty="0"/>
          </a:p>
          <a:p>
            <a:pPr algn="l">
              <a:defRPr sz="1400"/>
            </a:pPr>
            <a:r>
              <a:rPr sz="1600" dirty="0"/>
              <a:t>Achievements:</a:t>
            </a:r>
          </a:p>
          <a:p>
            <a:pPr algn="l">
              <a:defRPr sz="1400"/>
            </a:pPr>
            <a:r>
              <a:rPr sz="1600" dirty="0"/>
              <a:t>- Automated ETL pipeline</a:t>
            </a:r>
          </a:p>
          <a:p>
            <a:pPr algn="l">
              <a:defRPr sz="1400"/>
            </a:pPr>
            <a:r>
              <a:rPr sz="1600" dirty="0"/>
              <a:t>- Data cleaning &amp; metrics calculation</a:t>
            </a:r>
          </a:p>
          <a:p>
            <a:pPr algn="l">
              <a:defRPr sz="1400"/>
            </a:pPr>
            <a:r>
              <a:rPr sz="1600" dirty="0"/>
              <a:t>- Advanced analysis &amp; Power BI dashboard</a:t>
            </a:r>
          </a:p>
          <a:p>
            <a:pPr algn="l">
              <a:defRPr sz="1400"/>
            </a:pPr>
            <a:r>
              <a:rPr sz="1600" dirty="0"/>
              <a:t>- Meaningful business insights</a:t>
            </a:r>
          </a:p>
          <a:p>
            <a:pPr algn="l">
              <a:defRPr sz="1400"/>
            </a:pPr>
            <a:endParaRPr sz="1600" dirty="0"/>
          </a:p>
          <a:p>
            <a:pPr algn="l">
              <a:defRPr sz="1400"/>
            </a:pPr>
            <a:r>
              <a:rPr sz="1600" dirty="0"/>
              <a:t>Skills Gained: Data Cleaning, SQL, Financial Analytics, Power BI, etc.</a:t>
            </a:r>
          </a:p>
          <a:p>
            <a:pPr algn="l">
              <a:defRPr sz="1400"/>
            </a:pPr>
            <a:endParaRPr sz="1600" dirty="0"/>
          </a:p>
          <a:p>
            <a:pPr algn="l">
              <a:defRPr sz="1400"/>
            </a:pPr>
            <a:r>
              <a:rPr sz="1600" dirty="0"/>
              <a:t>Thank You |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34</TotalTime>
  <Words>307</Words>
  <Application>Microsoft Office PowerPoint</Application>
  <PresentationFormat>Custom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Bluestock Mutual Fund Capstone Project </vt:lpstr>
      <vt:lpstr>Methodology</vt:lpstr>
      <vt:lpstr>Interactive Dashboard</vt:lpstr>
      <vt:lpstr>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Vithal vunudurthi</dc:creator>
  <cp:keywords/>
  <dc:description>generated using python-pptx</dc:description>
  <cp:lastModifiedBy>Vithal vunudurthi</cp:lastModifiedBy>
  <cp:revision>3</cp:revision>
  <dcterms:created xsi:type="dcterms:W3CDTF">2013-01-27T09:14:16Z</dcterms:created>
  <dcterms:modified xsi:type="dcterms:W3CDTF">2026-07-08T12:16:55Z</dcterms:modified>
  <cp:category/>
</cp:coreProperties>
</file>